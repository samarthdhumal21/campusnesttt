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0725912" cy="5394960"/>
          </a:xfrm>
          <a:prstGeom prst="roundRect">
            <a:avLst>
              <a:gd name="adj" fmla="val 4237"/>
            </a:avLst>
          </a:prstGeom>
          <a:solidFill>
            <a:srgbClr val="0F172A"/>
          </a:solidFill>
          <a:ln w="19050">
            <a:solidFill>
              <a:srgbClr val="1E293B"/>
            </a:solidFill>
            <a:prstDash val="solid"/>
          </a:ln>
        </p:spPr>
      </p:sp>
      <p:pic>
        <p:nvPicPr>
          <p:cNvPr id="3" name="Image 0" descr="C:\Users\Samarth\.gemini\antigravity-ide\scratch\campusnest-kolhapur\public\images\campusnes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80160" y="1188720"/>
            <a:ext cx="2560320" cy="777240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1280160" y="2148840"/>
            <a:ext cx="3200400" cy="329184"/>
          </a:xfrm>
          <a:prstGeom prst="roundRect">
            <a:avLst>
              <a:gd name="adj" fmla="val 50000"/>
            </a:avLst>
          </a:prstGeom>
          <a:solidFill>
            <a:srgbClr val="132E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280160" y="2148840"/>
            <a:ext cx="32004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KOLHAPUR STUDENT ECOSYSTEM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280160" y="2606040"/>
            <a:ext cx="91440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Know Your Real Living Cost</a:t>
            </a:r>
            <a:endParaRPr lang="en-US" sz="3400" dirty="0"/>
          </a:p>
          <a:p>
            <a:pPr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Before Moving to Kolhapur.</a:t>
            </a:r>
            <a:endParaRPr lang="en-US" sz="3400" dirty="0"/>
          </a:p>
        </p:txBody>
      </p:sp>
      <p:sp>
        <p:nvSpPr>
          <p:cNvPr id="7" name="Text 4"/>
          <p:cNvSpPr/>
          <p:nvPr/>
        </p:nvSpPr>
        <p:spPr>
          <a:xfrm>
            <a:off x="1280160" y="406908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unified platform pairing campus accommodations with local messes &amp; transit cost analytics.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280160" y="4709160"/>
            <a:ext cx="2240280" cy="1051560"/>
          </a:xfrm>
          <a:prstGeom prst="roundRect">
            <a:avLst>
              <a:gd name="adj" fmla="val 130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280160" y="480060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1280160" y="52578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Colleges &amp; Institutes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703320" y="4709160"/>
            <a:ext cx="2240280" cy="1051560"/>
          </a:xfrm>
          <a:prstGeom prst="roundRect">
            <a:avLst>
              <a:gd name="adj" fmla="val 130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703320" y="480060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3703320" y="52578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Streams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126480" y="4709160"/>
            <a:ext cx="2240280" cy="1051560"/>
          </a:xfrm>
          <a:prstGeom prst="roundRect">
            <a:avLst>
              <a:gd name="adj" fmla="val 130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126480" y="480060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4-Part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6126480" y="52578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Itemized Cost Formula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8549640" y="4709160"/>
            <a:ext cx="2240280" cy="1051560"/>
          </a:xfrm>
          <a:prstGeom prst="roundRect">
            <a:avLst>
              <a:gd name="adj" fmla="val 13043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549640" y="4800600"/>
            <a:ext cx="2240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0%</a:t>
            </a:r>
            <a:endParaRPr lang="en-US" sz="2200" dirty="0"/>
          </a:p>
        </p:txBody>
      </p:sp>
      <p:sp>
        <p:nvSpPr>
          <p:cNvPr id="19" name="Text 16"/>
          <p:cNvSpPr/>
          <p:nvPr/>
        </p:nvSpPr>
        <p:spPr>
          <a:xfrm>
            <a:off x="8549640" y="525780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Brokerage / Middlemen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32E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CHALLENGE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Deceptive Reality of Student Relocation in Kolhapur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Outstation students face a fragmented, unverified housing market with hidden financial traps.</a:t>
            </a:r>
            <a:endParaRPr lang="en-US" sz="1100" dirty="0"/>
          </a:p>
        </p:txBody>
      </p:sp>
      <p:pic>
        <p:nvPicPr>
          <p:cNvPr id="6" name="Image 0" descr="C:\Users\Samarth\.gemini\antigravity-ide\scratch\campusnest-kolhapur\public\images\campusnes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411480"/>
            <a:ext cx="1234440" cy="411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1874520"/>
            <a:ext cx="3429000" cy="41148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051560" y="219456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271C19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051560" y="2194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01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051560" y="2651760"/>
            <a:ext cx="2788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Deceptive "Low Rent" Traps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051560" y="3429000"/>
            <a:ext cx="27889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Students attractively book ₹2,000–₹3,000 rent rooms only to discover unadvertised electricity meter surcharges, drinking water cans, and maintenance charges doubling the true cost.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343400" y="1874520"/>
            <a:ext cx="3429000" cy="41148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663440" y="219456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271C19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63440" y="2194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02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4663440" y="2651760"/>
            <a:ext cx="2788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Missing Mess Factor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4663440" y="3429000"/>
            <a:ext cx="27889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Most student rooms in Kolhapur do not include meals. Students must hunt for nearby Bhojanalays/Khanawals without knowing monthly pass costs (₹2,200–₹3,200), diet type, or hygienic standards.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955280" y="1874520"/>
            <a:ext cx="3429000" cy="41148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 w="19050">
            <a:solidFill>
              <a:srgbClr val="33415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8275320" y="2194560"/>
            <a:ext cx="1371600" cy="274320"/>
          </a:xfrm>
          <a:prstGeom prst="roundRect">
            <a:avLst>
              <a:gd name="adj" fmla="val 50000"/>
            </a:avLst>
          </a:prstGeom>
          <a:solidFill>
            <a:srgbClr val="271C19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275320" y="219456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PROBLEM 03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8275320" y="2651760"/>
            <a:ext cx="278892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Information Vacuum &amp; Brokerage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8275320" y="3429000"/>
            <a:ext cx="27889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Information remains scattered on street flyers, phone poles, and unvetted WhatsApp groups. Aggressive local brokers charge up to an entire month's rent for substandard listings.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32E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OUR SOLUTION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CampusNest: Transparent 4-Pillar Cost Engine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Eliminating financial guesswork by mathematically modeling every component of student expenditure.</a:t>
            </a:r>
            <a:endParaRPr lang="en-US" sz="1100" dirty="0"/>
          </a:p>
        </p:txBody>
      </p:sp>
      <p:pic>
        <p:nvPicPr>
          <p:cNvPr id="6" name="Image 0" descr="C:\Users\Samarth\.gemini\antigravity-ide\scratch\campusnest-kolhapur\public\images\campusnes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411480"/>
            <a:ext cx="1234440" cy="411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1828800"/>
            <a:ext cx="10725912" cy="1234440"/>
          </a:xfrm>
          <a:prstGeom prst="roundRect">
            <a:avLst>
              <a:gd name="adj" fmla="val 14815"/>
            </a:avLst>
          </a:prstGeom>
          <a:solidFill>
            <a:srgbClr val="132E27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96596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CAMPUSNEST FORMULA FOR FINANCIAL CERTAINTY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005840" y="224028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Total Monthly Outflow = Room Rent + Metered Utilities + Paired Mess + Daily Commute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731520" y="3246120"/>
            <a:ext cx="3429000" cy="2834640"/>
          </a:xfrm>
          <a:prstGeom prst="roundRect">
            <a:avLst>
              <a:gd name="adj" fmla="val 5806"/>
            </a:avLst>
          </a:prstGeom>
          <a:solidFill>
            <a:srgbClr val="1E293B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342900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Predictive Budget Matching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1005840" y="3931920"/>
            <a:ext cx="2880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Students define their true monthly limit (e.g. ₹6,500)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Algorithm filters stays where aggregate cost is within budget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Stops students from overcommitting on rent before factoring food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343400" y="3246120"/>
            <a:ext cx="3429000" cy="2834640"/>
          </a:xfrm>
          <a:prstGeom prst="roundRect">
            <a:avLst>
              <a:gd name="adj" fmla="val 5806"/>
            </a:avLst>
          </a:prstGeom>
          <a:solidFill>
            <a:srgbClr val="1E293B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17720" y="342900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Campus-Specific Mess Pairing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617720" y="3931920"/>
            <a:ext cx="2880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Every stay pairs with the closest vetted Bhojanalay/Mess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Transparent dietary tags (Pure Veg, Jain, Non-Veg specials)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Lists actual monthly meal pass subscription rates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7955280" y="3246120"/>
            <a:ext cx="3429000" cy="2834640"/>
          </a:xfrm>
          <a:prstGeom prst="roundRect">
            <a:avLst>
              <a:gd name="adj" fmla="val 5806"/>
            </a:avLst>
          </a:prstGeom>
          <a:solidFill>
            <a:srgbClr val="1E293B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29600" y="342900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Real Commute Calculation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8229600" y="3931920"/>
            <a:ext cx="28803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Geodesic distance measured straight to exact college gates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Accurate travel modality costs (Walking, Bicycle, KMT Bus, Auto)</a:t>
            </a: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endParaRPr lang="en-US" sz="11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Prevents saving ₹500 on rent while spending ₹1,500 on auto travel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32E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ACADEMIC REACH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34 Colleges &amp; Institutes Across 8 Educational Streams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CampusNest provides 100% comprehensive city-wide coverage across all higher education clusters.</a:t>
            </a:r>
            <a:endParaRPr lang="en-US" sz="1100" dirty="0"/>
          </a:p>
        </p:txBody>
      </p:sp>
      <p:pic>
        <p:nvPicPr>
          <p:cNvPr id="6" name="Image 0" descr="C:\Users\Samarth\.gemini\antigravity-ide\scratch\campusnest-kolhapur\public\images\campusnes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411480"/>
            <a:ext cx="1234440" cy="411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1874520"/>
            <a:ext cx="2578608" cy="1965960"/>
          </a:xfrm>
          <a:prstGeom prst="roundRect">
            <a:avLst>
              <a:gd name="adj" fmla="val 7442"/>
            </a:avLst>
          </a:prstGeom>
          <a:solidFill>
            <a:srgbClr val="1E293B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960120" y="2103120"/>
            <a:ext cx="137160" cy="3200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88720" y="207568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Engineering (10)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60120" y="2560320"/>
            <a:ext cx="21488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DYPCET, DOT Shivaji, KITCoEK, SETI, SGI, DYP Talsande, Ashokrao Mane, TKIET, DKTE, Sharad Inst.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438144" y="1874520"/>
            <a:ext cx="2578608" cy="1965960"/>
          </a:xfrm>
          <a:prstGeom prst="roundRect">
            <a:avLst>
              <a:gd name="adj" fmla="val 7442"/>
            </a:avLst>
          </a:prstGeom>
          <a:solidFill>
            <a:srgbClr val="1E293B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666744" y="2103120"/>
            <a:ext cx="137160" cy="3200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95344" y="207568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Medical &amp; Health (3)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3666744" y="2560320"/>
            <a:ext cx="21488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GMC Kolhapur (CPR Hospital), D.Y. Patil Medical College, D.Y. Patil College of Nursing.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144768" y="1874520"/>
            <a:ext cx="2578608" cy="1965960"/>
          </a:xfrm>
          <a:prstGeom prst="roundRect">
            <a:avLst>
              <a:gd name="adj" fmla="val 7442"/>
            </a:avLst>
          </a:prstGeom>
          <a:solidFill>
            <a:srgbClr val="1E293B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373368" y="2103120"/>
            <a:ext cx="137160" cy="320040"/>
          </a:xfrm>
          <a:prstGeom prst="rect">
            <a:avLst/>
          </a:prstGeom>
          <a:solidFill>
            <a:srgbClr val="818CF8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601968" y="207568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Pharmacy (3)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6373368" y="2560320"/>
            <a:ext cx="21488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D.Y. Patil College of Pharmacy, Sharad Inst. Pharmacy, Ashokrao Mane Pharmacy.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8851392" y="1874520"/>
            <a:ext cx="2578608" cy="1965960"/>
          </a:xfrm>
          <a:prstGeom prst="roundRect">
            <a:avLst>
              <a:gd name="adj" fmla="val 7442"/>
            </a:avLst>
          </a:prstGeom>
          <a:solidFill>
            <a:srgbClr val="1E293B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9079992" y="2103120"/>
            <a:ext cx="137160" cy="3200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308592" y="207568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Arts, Science &amp; Commerce (10)</a:t>
            </a:r>
            <a:endParaRPr lang="en-US" sz="1200" dirty="0"/>
          </a:p>
        </p:txBody>
      </p:sp>
      <p:sp>
        <p:nvSpPr>
          <p:cNvPr id="22" name="Text 19"/>
          <p:cNvSpPr/>
          <p:nvPr/>
        </p:nvSpPr>
        <p:spPr>
          <a:xfrm>
            <a:off x="9079992" y="2560320"/>
            <a:ext cx="21488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Rajaram College, Vivekanand, The New College, Shahu, Gokhale, Kamala, Mahaveer, SGU, Ghali, YC Warana.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731520" y="4023360"/>
            <a:ext cx="2578608" cy="1965960"/>
          </a:xfrm>
          <a:prstGeom prst="roundRect">
            <a:avLst>
              <a:gd name="adj" fmla="val 7442"/>
            </a:avLst>
          </a:prstGeom>
          <a:solidFill>
            <a:srgbClr val="1E293B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960120" y="4251960"/>
            <a:ext cx="137160" cy="3200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188720" y="422452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Law (2)</a:t>
            </a:r>
            <a:endParaRPr lang="en-US" sz="1200" dirty="0"/>
          </a:p>
        </p:txBody>
      </p:sp>
      <p:sp>
        <p:nvSpPr>
          <p:cNvPr id="26" name="Text 23"/>
          <p:cNvSpPr/>
          <p:nvPr/>
        </p:nvSpPr>
        <p:spPr>
          <a:xfrm>
            <a:off x="960120" y="4709160"/>
            <a:ext cx="21488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Shahaji Law College, Shivaji University Department of Law.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3438144" y="4023360"/>
            <a:ext cx="2578608" cy="1965960"/>
          </a:xfrm>
          <a:prstGeom prst="roundRect">
            <a:avLst>
              <a:gd name="adj" fmla="val 7442"/>
            </a:avLst>
          </a:prstGeom>
          <a:solidFill>
            <a:srgbClr val="1E293B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3666744" y="4251960"/>
            <a:ext cx="137160" cy="320040"/>
          </a:xfrm>
          <a:prstGeom prst="rect">
            <a:avLst/>
          </a:prstGeom>
          <a:solidFill>
            <a:srgbClr val="EC4899"/>
          </a:solidFill>
          <a:ln w="12700">
            <a:solidFill>
              <a:srgbClr val="EC4899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895344" y="422452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Management &amp; IT (2)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3666744" y="4709160"/>
            <a:ext cx="21488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CSIBER (Chhatrapati Shahu Institute), SUK Commerce &amp; Management.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6144768" y="4023360"/>
            <a:ext cx="2578608" cy="1965960"/>
          </a:xfrm>
          <a:prstGeom prst="roundRect">
            <a:avLst>
              <a:gd name="adj" fmla="val 7442"/>
            </a:avLst>
          </a:prstGeom>
          <a:solidFill>
            <a:srgbClr val="1E293B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6373368" y="4251960"/>
            <a:ext cx="137160" cy="32004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601968" y="422452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Agriculture (1)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6373368" y="4709160"/>
            <a:ext cx="21488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College of Agriculture, Kolhapur (MPKV Rahuri).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8851392" y="4023360"/>
            <a:ext cx="2578608" cy="1965960"/>
          </a:xfrm>
          <a:prstGeom prst="roundRect">
            <a:avLst>
              <a:gd name="adj" fmla="val 7442"/>
            </a:avLst>
          </a:prstGeom>
          <a:solidFill>
            <a:srgbClr val="1E293B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9079992" y="4251960"/>
            <a:ext cx="137160" cy="320040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308592" y="4224528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Diploma / Polytechnics (3)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9079992" y="4709160"/>
            <a:ext cx="2148840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Government Polytechnic Kolhapur (GPK), Sharad Polytechnic, SG Polytechnic.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32E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STAKEHOLDER BENEFITS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Empowering Students &amp; Parents with Clarity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Removing the stress of academic migration and preventing mid-semester budget shocks.</a:t>
            </a:r>
            <a:endParaRPr lang="en-US" sz="1100" dirty="0"/>
          </a:p>
        </p:txBody>
      </p:sp>
      <p:pic>
        <p:nvPicPr>
          <p:cNvPr id="6" name="Image 0" descr="C:\Users\Samarth\.gemini\antigravity-ide\scratch\campusnest-kolhapur\public\images\campusnes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411480"/>
            <a:ext cx="1234440" cy="411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1874520"/>
            <a:ext cx="5257800" cy="1965960"/>
          </a:xfrm>
          <a:prstGeom prst="roundRect">
            <a:avLst>
              <a:gd name="adj" fmla="val 8372"/>
            </a:avLst>
          </a:prstGeom>
          <a:solidFill>
            <a:srgbClr val="1E293B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7280" y="214884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Precision Budget Matcher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97280" y="2606040"/>
            <a:ext cx="45262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Allows students to input their real budget cap. Only showcases stays whose total living expenditure (Rent + Utilities + Food + Transit) realistically fits.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72200" y="1874520"/>
            <a:ext cx="5257800" cy="1965960"/>
          </a:xfrm>
          <a:prstGeom prst="roundRect">
            <a:avLst>
              <a:gd name="adj" fmla="val 8372"/>
            </a:avLst>
          </a:prstGeom>
          <a:solidFill>
            <a:srgbClr val="1E293B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37960" y="214884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 Gate Commute Cost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537960" y="2606040"/>
            <a:ext cx="45262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Calculates walking, bicycle, KMT city bus, or auto fare to specific campus gates, ensuring daily transit won't quietly drain student savings.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31520" y="4023360"/>
            <a:ext cx="5257800" cy="1965960"/>
          </a:xfrm>
          <a:prstGeom prst="roundRect">
            <a:avLst>
              <a:gd name="adj" fmla="val 8372"/>
            </a:avLst>
          </a:prstGeom>
          <a:solidFill>
            <a:srgbClr val="1E293B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0" y="429768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Curated Mess Pairing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97280" y="4754880"/>
            <a:ext cx="45262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Pairs student rooms with authentic local dining halls (bhojanalays) filtered by diet (Pure Veg, Non-Veg Kolhapuri thali, Jain) with verified rates.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172200" y="4023360"/>
            <a:ext cx="5257800" cy="1965960"/>
          </a:xfrm>
          <a:prstGeom prst="roundRect">
            <a:avLst>
              <a:gd name="adj" fmla="val 8372"/>
            </a:avLst>
          </a:prstGeom>
          <a:solidFill>
            <a:srgbClr val="1E293B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37960" y="429768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Safety, Rules &amp; Curfew Badges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537960" y="4754880"/>
            <a:ext cx="45262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Clear upfront tags for CCTV security, warden oversight, RO drinking water, Wi-Fi speeds, and gate curfew timings (e.g. 9:30 PM for Girls' PGs).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32E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STAKEHOLDER BENEFITS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Direct Tenancy &amp; High Occupancy for Landlords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Connecting property owners directly with enrolled students without middleman commissions.</a:t>
            </a:r>
            <a:endParaRPr lang="en-US" sz="1100" dirty="0"/>
          </a:p>
        </p:txBody>
      </p:sp>
      <p:pic>
        <p:nvPicPr>
          <p:cNvPr id="6" name="Image 0" descr="C:\Users\Samarth\.gemini\antigravity-ide\scratch\campusnest-kolhapur\public\images\campusnes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411480"/>
            <a:ext cx="1234440" cy="411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1874520"/>
            <a:ext cx="10725912" cy="91440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201168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1737360" y="201168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100% Zero-Brokerage Inquiries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5029200" y="2011680"/>
            <a:ext cx="6126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Landlords list rooms, PGs, and apartments without losing 1 month's rent to local brokers. Direct student connection speeds up occupancy.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31520" y="2926080"/>
            <a:ext cx="10725912" cy="91440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05840" y="30632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1737360" y="306324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High-Intent Verified College Leads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029200" y="3063240"/>
            <a:ext cx="6126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Inquiries arrive from verified students attending adjacent educational institutions, guaranteeing stable 10–11 month academic lease cycles.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731520" y="3977640"/>
            <a:ext cx="10725912" cy="91440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005840" y="411480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800" dirty="0"/>
          </a:p>
        </p:txBody>
      </p:sp>
      <p:sp>
        <p:nvSpPr>
          <p:cNvPr id="17" name="Text 14"/>
          <p:cNvSpPr/>
          <p:nvPr/>
        </p:nvSpPr>
        <p:spPr>
          <a:xfrm>
            <a:off x="1737360" y="41148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Transparent Pricing &amp; Rule Setting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5029200" y="4114800"/>
            <a:ext cx="6126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Showcase exact electricity submeter rates, security deposits, hot water schedules, and house rules upfront to prevent tenant disputes.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731520" y="5029200"/>
            <a:ext cx="10725912" cy="914400"/>
          </a:xfrm>
          <a:prstGeom prst="roundRect">
            <a:avLst>
              <a:gd name="adj" fmla="val 15000"/>
            </a:avLst>
          </a:prstGeom>
          <a:solidFill>
            <a:srgbClr val="1E293B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05840" y="516636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1737360" y="516636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Self-Service Owner Dashboard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5029200" y="5166360"/>
            <a:ext cx="6126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Easily update room availability, adjust occupancy status (Single, Twin, Triple sharing), and respond to student inquiries in real time.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32E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GOVERNANCE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Ensuring Safety, Quality &amp; Market Intelligence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Robust admin moderation tools designed to protect student safety and maintain listing integrity.</a:t>
            </a:r>
            <a:endParaRPr lang="en-US" sz="1100" dirty="0"/>
          </a:p>
        </p:txBody>
      </p:sp>
      <p:pic>
        <p:nvPicPr>
          <p:cNvPr id="6" name="Image 0" descr="C:\Users\Samarth\.gemini\antigravity-ide\scratch\campusnest-kolhapur\public\images\campusnes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411480"/>
            <a:ext cx="1234440" cy="411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1874520"/>
            <a:ext cx="5257800" cy="1965960"/>
          </a:xfrm>
          <a:prstGeom prst="roundRect">
            <a:avLst>
              <a:gd name="adj" fmla="val 8372"/>
            </a:avLst>
          </a:prstGeom>
          <a:solidFill>
            <a:srgbClr val="1E293B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97280" y="214884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9E0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Listing Moderation Queue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97280" y="2606040"/>
            <a:ext cx="45262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Every student stay listing undergoes strict review (property photos, amenity claims, pricing checks) before publishing.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6172200" y="1874520"/>
            <a:ext cx="5257800" cy="1965960"/>
          </a:xfrm>
          <a:prstGeom prst="roundRect">
            <a:avLst>
              <a:gd name="adj" fmla="val 8372"/>
            </a:avLst>
          </a:prstGeom>
          <a:solidFill>
            <a:srgbClr val="1E293B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37960" y="214884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Tri-Role Authentication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6537960" y="2606040"/>
            <a:ext cx="45262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Secure role-based access control (Student, Property Owner, Admin) powered by Google OAuth and Firebase infrastructure.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31520" y="4023360"/>
            <a:ext cx="5257800" cy="1965960"/>
          </a:xfrm>
          <a:prstGeom prst="roundRect">
            <a:avLst>
              <a:gd name="adj" fmla="val 8372"/>
            </a:avLst>
          </a:prstGeom>
          <a:solidFill>
            <a:srgbClr val="1E293B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0" y="429768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Kolhapur Market Analytics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097280" y="4754880"/>
            <a:ext cx="45262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Monitors living costs across clusters (Kasaba Bawada, Rajarampuri, Tarabai Park, Gokul Shirgaon) to track supply &amp; demand.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172200" y="4023360"/>
            <a:ext cx="5257800" cy="1965960"/>
          </a:xfrm>
          <a:prstGeom prst="roundRect">
            <a:avLst>
              <a:gd name="adj" fmla="val 8372"/>
            </a:avLst>
          </a:prstGeom>
          <a:solidFill>
            <a:srgbClr val="1E293B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537960" y="429768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F444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Safety Enforcement &amp; Delisting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537960" y="4754880"/>
            <a:ext cx="4526280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Quick escalation workflow to delist fraudulent owners or properties failing basic security, hygiene, or curfew promises.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32E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PLATFORM FEATURES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Interactive Tools &amp; Cutting-Edge UX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Engineered for fast, fluid, and delightful exploration on mobile and desktop.</a:t>
            </a:r>
            <a:endParaRPr lang="en-US" sz="1100" dirty="0"/>
          </a:p>
        </p:txBody>
      </p:sp>
      <p:pic>
        <p:nvPicPr>
          <p:cNvPr id="6" name="Image 0" descr="C:\Users\Samarth\.gemini\antigravity-ide\scratch\campusnest-kolhapur\public\images\campusnes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411480"/>
            <a:ext cx="1234440" cy="411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1874520"/>
            <a:ext cx="2578608" cy="4114800"/>
          </a:xfrm>
          <a:prstGeom prst="roundRect">
            <a:avLst>
              <a:gd name="adj" fmla="val 6383"/>
            </a:avLst>
          </a:prstGeom>
          <a:solidFill>
            <a:srgbClr val="1E293B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2103120"/>
            <a:ext cx="21214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INSTANT DISCOVERY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960120" y="2423160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Sticky Top Search ( / )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960120" y="3108960"/>
            <a:ext cx="2121408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Fuzzy search across all 34 colleges, course keywords (B.Tech, MBBS, MBA), and localities with instant result highlights.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438144" y="1874520"/>
            <a:ext cx="2578608" cy="4114800"/>
          </a:xfrm>
          <a:prstGeom prst="roundRect">
            <a:avLst>
              <a:gd name="adj" fmla="val 6383"/>
            </a:avLst>
          </a:prstGeom>
          <a:solidFill>
            <a:srgbClr val="1E293B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66744" y="2103120"/>
            <a:ext cx="21214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AUTHENTIC BRANDING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3666744" y="2423160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Dynamic College Logo Strip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3666744" y="3108960"/>
            <a:ext cx="2121408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Smooth infinite marquee showcasing official institution seals with single-click filtering by category.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144768" y="1874520"/>
            <a:ext cx="2578608" cy="4114800"/>
          </a:xfrm>
          <a:prstGeom prst="roundRect">
            <a:avLst>
              <a:gd name="adj" fmla="val 6383"/>
            </a:avLst>
          </a:prstGeom>
          <a:solidFill>
            <a:srgbClr val="1E293B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373368" y="2103120"/>
            <a:ext cx="21214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DECISION ENGINE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6373368" y="2423160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Side-by-Side Comparison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6373368" y="3108960"/>
            <a:ext cx="2121408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Compare up to 3 candidate stays at once: evaluating total cost, deposit, amenities, curfew, and distance side-by-side.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8851392" y="1874520"/>
            <a:ext cx="2578608" cy="4114800"/>
          </a:xfrm>
          <a:prstGeom prst="roundRect">
            <a:avLst>
              <a:gd name="adj" fmla="val 6383"/>
            </a:avLst>
          </a:prstGeom>
          <a:solidFill>
            <a:srgbClr val="1E293B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079992" y="2103120"/>
            <a:ext cx="212140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SEAMLESS AUTH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9079992" y="2423160"/>
            <a:ext cx="2121408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Docked Bottom-Right Widget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9079992" y="3108960"/>
            <a:ext cx="2121408" cy="2651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Compact sign-in card docked at bottom-right with minimize-to-pill mode, preserving clean browsing immersion.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32E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EXPORTABLE DOCUMENT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Downloadable Student Cost Estimate PDF Report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 one-click official budget sheet for student planning, parent approval, and education loans.</a:t>
            </a:r>
            <a:endParaRPr lang="en-US" sz="1100" dirty="0"/>
          </a:p>
        </p:txBody>
      </p:sp>
      <p:pic>
        <p:nvPicPr>
          <p:cNvPr id="6" name="Image 0" descr="C:\Users\Samarth\.gemini\antigravity-ide\scratch\campusnest-kolhapur\public\images\campusnes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411480"/>
            <a:ext cx="1234440" cy="411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1874520"/>
            <a:ext cx="5120640" cy="41148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25400">
            <a:solidFill>
              <a:srgbClr val="CBD5E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2057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CampusNest Kolhapur — Official Cost Estimate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05840" y="237744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Student: Rohan Deshmukh  •  College: DYPCET, Bawada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1005840" y="2743200"/>
            <a:ext cx="457200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274320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Base Room Rent (Twin Sharing, Line Bazaar)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4389120" y="274320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₹3,200 / mo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1005840" y="3154680"/>
            <a:ext cx="4572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97280" y="315468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Metered Utilities (Electricity, RO Water, WiFi)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4389120" y="31546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₹600 / mo</a:t>
            </a:r>
            <a:endParaRPr lang="en-US" sz="850" dirty="0"/>
          </a:p>
        </p:txBody>
      </p:sp>
      <p:sp>
        <p:nvSpPr>
          <p:cNvPr id="16" name="Shape 13"/>
          <p:cNvSpPr/>
          <p:nvPr/>
        </p:nvSpPr>
        <p:spPr>
          <a:xfrm>
            <a:off x="1005840" y="3566160"/>
            <a:ext cx="4572000" cy="365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97280" y="356616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Paired Mess (Mahalaxmi Bhojanalay, 2 Meals/day)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389120" y="356616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₹2,400 / mo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1005840" y="3977640"/>
            <a:ext cx="4572000" cy="36576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97280" y="39776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93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Estimated Transit (Walking distance: 800m)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4389120" y="397764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₹0 / mo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1005840" y="4480560"/>
            <a:ext cx="4572000" cy="411480"/>
          </a:xfrm>
          <a:prstGeom prst="rect">
            <a:avLst/>
          </a:prstGeom>
          <a:solidFill>
            <a:srgbClr val="10B981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97280" y="4480560"/>
            <a:ext cx="3108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ESTIMATED MONTHLY OUTFLOW: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4206240" y="448056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₹6,200 / month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1005840" y="502920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Includes Landlord Contact, Security Deposit (₹5,000), Nearest Clinic &amp; ATM guide.</a:t>
            </a:r>
            <a:endParaRPr lang="en-US" sz="800" dirty="0"/>
          </a:p>
        </p:txBody>
      </p:sp>
      <p:sp>
        <p:nvSpPr>
          <p:cNvPr id="26" name="Shape 23"/>
          <p:cNvSpPr/>
          <p:nvPr/>
        </p:nvSpPr>
        <p:spPr>
          <a:xfrm>
            <a:off x="6217920" y="1874520"/>
            <a:ext cx="5239512" cy="1234440"/>
          </a:xfrm>
          <a:prstGeom prst="roundRect">
            <a:avLst>
              <a:gd name="adj" fmla="val 11852"/>
            </a:avLst>
          </a:prstGeom>
          <a:solidFill>
            <a:srgbClr val="1E293B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6492240" y="2057400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Family Financial Approval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492240" y="2377440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Parents receive transparent, itemized proof of monthly expenses before giving budget approval or sending initial allowances.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6217920" y="3264408"/>
            <a:ext cx="5239512" cy="1234440"/>
          </a:xfrm>
          <a:prstGeom prst="roundRect">
            <a:avLst>
              <a:gd name="adj" fmla="val 11852"/>
            </a:avLst>
          </a:prstGeom>
          <a:solidFill>
            <a:srgbClr val="1E293B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492240" y="3447288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Education Loan Documentation</a:t>
            </a:r>
            <a:endParaRPr lang="en-US" sz="1400" dirty="0"/>
          </a:p>
        </p:txBody>
      </p:sp>
      <p:sp>
        <p:nvSpPr>
          <p:cNvPr id="31" name="Text 28"/>
          <p:cNvSpPr/>
          <p:nvPr/>
        </p:nvSpPr>
        <p:spPr>
          <a:xfrm>
            <a:off x="6492240" y="3767328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Serves as formal non-academic living expenditure projection for bank education loan stipends and scholarship allowances.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6217920" y="4654296"/>
            <a:ext cx="5239512" cy="1234440"/>
          </a:xfrm>
          <a:prstGeom prst="roundRect">
            <a:avLst>
              <a:gd name="adj" fmla="val 11852"/>
            </a:avLst>
          </a:prstGeom>
          <a:solidFill>
            <a:srgbClr val="1E293B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492240" y="483717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Zero Mid-Semester Shock</a:t>
            </a:r>
            <a:endParaRPr lang="en-US" sz="1400" dirty="0"/>
          </a:p>
        </p:txBody>
      </p:sp>
      <p:sp>
        <p:nvSpPr>
          <p:cNvPr id="34" name="Text 31"/>
          <p:cNvSpPr/>
          <p:nvPr/>
        </p:nvSpPr>
        <p:spPr>
          <a:xfrm>
            <a:off x="6492240" y="5157216"/>
            <a:ext cx="466344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Students know deposit payback terms, electricity unit thresholds, and food timings before signing any agreement.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2011680" cy="292608"/>
          </a:xfrm>
          <a:prstGeom prst="roundRect">
            <a:avLst>
              <a:gd name="adj" fmla="val 50000"/>
            </a:avLst>
          </a:prstGeom>
          <a:solidFill>
            <a:srgbClr val="132E27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4114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LOOKING FORWARD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Conclusion &amp; Future Strategic Roadmap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960120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Empowering 50,000+ students in Kolhapur to live smartly, safely, and within budget.</a:t>
            </a:r>
            <a:endParaRPr lang="en-US" sz="1100" dirty="0"/>
          </a:p>
        </p:txBody>
      </p:sp>
      <p:pic>
        <p:nvPicPr>
          <p:cNvPr id="6" name="Image 0" descr="C:\Users\Samarth\.gemini\antigravity-ide\scratch\campusnest-kolhapur\public\images\campusnest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0" y="411480"/>
            <a:ext cx="1234440" cy="4114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731520" y="1874520"/>
            <a:ext cx="10725912" cy="1188720"/>
          </a:xfrm>
          <a:prstGeom prst="roundRect">
            <a:avLst>
              <a:gd name="adj" fmla="val 15385"/>
            </a:avLst>
          </a:prstGeom>
          <a:solidFill>
            <a:srgbClr val="1E293B"/>
          </a:solidFill>
          <a:ln w="19050">
            <a:solidFill>
              <a:srgbClr val="10B98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2011680"/>
            <a:ext cx="10058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B98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IMPACT &amp; VALUE DELIVERED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005840" y="2286000"/>
            <a:ext cx="10149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CampusNest transforms higher education relocation from an anxious, predatory guesswork game into a predictable, digitally transparent experience with zero brokerage.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31520" y="3246120"/>
            <a:ext cx="3429000" cy="2834640"/>
          </a:xfrm>
          <a:prstGeom prst="roundRect">
            <a:avLst>
              <a:gd name="adj" fmla="val 5806"/>
            </a:avLst>
          </a:prstGeom>
          <a:solidFill>
            <a:srgbClr val="1E293B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05840" y="347472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05840" y="34747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1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1005840" y="388620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WhatsApp AI Concierge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005840" y="438912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Automated daily mess menu alerts, real-time vacancy broadcasts, and secure roommate discovery bot.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4343400" y="3246120"/>
            <a:ext cx="3429000" cy="2834640"/>
          </a:xfrm>
          <a:prstGeom prst="roundRect">
            <a:avLst>
              <a:gd name="adj" fmla="val 5806"/>
            </a:avLst>
          </a:prstGeom>
          <a:solidFill>
            <a:srgbClr val="1E293B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17720" y="347472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4617720" y="34747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18C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2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4617720" y="388620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Integrated UPI Escrow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4617720" y="438912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In-app digital rent payments, monthly mess pass tokens, and verified security deposit escrow protection.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7955280" y="3246120"/>
            <a:ext cx="3429000" cy="2834640"/>
          </a:xfrm>
          <a:prstGeom prst="roundRect">
            <a:avLst>
              <a:gd name="adj" fmla="val 5806"/>
            </a:avLst>
          </a:prstGeom>
          <a:solidFill>
            <a:srgbClr val="1E293B"/>
          </a:solidFill>
          <a:ln w="15240">
            <a:solidFill>
              <a:srgbClr val="334155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8229600" y="347472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1E1B4B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8229600" y="347472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855F7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PHASE 3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8229600" y="3886200"/>
            <a:ext cx="2880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Regional Expansion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229600" y="4389120"/>
            <a:ext cx="288036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800"/>
              </a:lnSpc>
              <a:buNone/>
            </a:pPr>
            <a:r>
              <a:rPr lang="en-US" sz="1150" dirty="0">
                <a:solidFill>
                  <a:srgbClr val="CBD5E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Replicating the CampusNest cost engine in other Maharashtra student hubs: Pune, Nashik, and Chhatrapati Sambhajinagar.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CampusNest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CampusNest Presentation</dc:title>
  <dc:subject>CampusNest - Kolhapur Student Living Cost &amp; Stay Finder Presentation</dc:subject>
  <dc:creator>CampusNest Kolhapur</dc:creator>
  <cp:lastModifiedBy>CampusNest Kolhapur</cp:lastModifiedBy>
  <cp:revision>1.0</cp:revision>
  <dcterms:created xsi:type="dcterms:W3CDTF">2026-10-16T20:32:56Z</dcterms:created>
  <dcterms:modified xsi:type="dcterms:W3CDTF">2026-10-16T20:32:56Z</dcterms:modified>
</cp:coreProperties>
</file>